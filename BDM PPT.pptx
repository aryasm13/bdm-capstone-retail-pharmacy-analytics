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60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5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12/24/2025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12/24/2025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36">
          <p15:clr>
            <a:srgbClr val="F26B43"/>
          </p15:clr>
        </p15:guide>
        <p15:guide id="4" orient="horz" pos="336">
          <p15:clr>
            <a:srgbClr val="F26B43"/>
          </p15:clr>
        </p15:guide>
        <p15:guide id="5" pos="7344">
          <p15:clr>
            <a:srgbClr val="F26B43"/>
          </p15:clr>
        </p15:guide>
        <p15:guide id="6" orient="horz" pos="39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7344" y="111760"/>
            <a:ext cx="9022080" cy="1637792"/>
          </a:xfrm>
        </p:spPr>
        <p:txBody>
          <a:bodyPr/>
          <a:lstStyle/>
          <a:p>
            <a:pPr algn="ctr"/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Data-Driven Optimization and Scalability of</a:t>
            </a:r>
            <a:br>
              <a:rPr lang="en-US" sz="3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Diabetes Care Medical and General Stores in Retail Pharmacy sector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9656" y="1933448"/>
            <a:ext cx="7077456" cy="868680"/>
          </a:xfrm>
        </p:spPr>
        <p:txBody>
          <a:bodyPr>
            <a:norm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ARYA MULAY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23F3002123</a:t>
            </a:r>
          </a:p>
        </p:txBody>
      </p:sp>
      <p:pic>
        <p:nvPicPr>
          <p:cNvPr id="7" name="Google Shape;61;p13">
            <a:extLst>
              <a:ext uri="{FF2B5EF4-FFF2-40B4-BE49-F238E27FC236}">
                <a16:creationId xmlns:a16="http://schemas.microsoft.com/office/drawing/2014/main" id="{F98DB618-C409-6448-9CE9-3BCFD2AA65F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12884" y="2986024"/>
            <a:ext cx="1930999" cy="170789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4DF17768-3F18-E009-EC57-C7EE1D18CE7D}"/>
              </a:ext>
            </a:extLst>
          </p:cNvPr>
          <p:cNvSpPr txBox="1">
            <a:spLocks/>
          </p:cNvSpPr>
          <p:nvPr/>
        </p:nvSpPr>
        <p:spPr>
          <a:xfrm>
            <a:off x="3081896" y="5022088"/>
            <a:ext cx="7077456" cy="868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lang="en-GB" sz="1800" kern="1200" spc="30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IITM Online BS Degree Program, 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Institute of Technology, Madras, Chennai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Tamil Nadu, India, 600036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z="2000" smtClean="0"/>
              <a:pPr/>
              <a:t>2</a:t>
            </a:fld>
            <a:endParaRPr lang="en-US" sz="200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 txBox="1">
            <a:spLocks/>
          </p:cNvSpPr>
          <p:nvPr/>
        </p:nvSpPr>
        <p:spPr>
          <a:xfrm>
            <a:off x="342646" y="411481"/>
            <a:ext cx="7781544" cy="4927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FIRM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8CCF33-C010-48C7-44A9-D628B1DE6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658" y="1061720"/>
            <a:ext cx="5860682" cy="5011419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B6672A68-3168-5AB2-BCDE-F48AF54C0F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6900" y="837766"/>
            <a:ext cx="5436758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Retail pharmacy established in 2010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Primary focus: Diabetes care &amp; general medicines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Operates as a single-branch pharma firm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Serves a stable local customer base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legacy Green Cross database software with limited analytical capability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Strong Supplier Relations built over past 15 years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E502-E786-9F4C-459D-7853ABDDC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07831"/>
          </a:xfrm>
        </p:spPr>
        <p:txBody>
          <a:bodyPr/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STATEMNETS FORMULATED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B6B189-0376-0A92-DE8C-FB34E957C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z="2000" noProof="0" smtClean="0"/>
              <a:pPr/>
              <a:t>3</a:t>
            </a:fld>
            <a:endParaRPr lang="en-US" sz="2000" noProof="0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9C71C3E8-6841-BA55-395A-1A9CECA6B6ED}"/>
              </a:ext>
            </a:extLst>
          </p:cNvPr>
          <p:cNvSpPr txBox="1">
            <a:spLocks/>
          </p:cNvSpPr>
          <p:nvPr/>
        </p:nvSpPr>
        <p:spPr>
          <a:xfrm>
            <a:off x="443365" y="1466666"/>
            <a:ext cx="5184437" cy="4927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&amp; Capital Utilization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07C00AA9-EBD8-828E-7325-AA041C041FD9}"/>
              </a:ext>
            </a:extLst>
          </p:cNvPr>
          <p:cNvSpPr txBox="1">
            <a:spLocks/>
          </p:cNvSpPr>
          <p:nvPr/>
        </p:nvSpPr>
        <p:spPr>
          <a:xfrm>
            <a:off x="6474163" y="1466666"/>
            <a:ext cx="5184437" cy="4927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Inefficiency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ADD31BB-E2C0-79F1-5617-DAD0282A9D1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65195" y="2375336"/>
            <a:ext cx="494077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Profitable business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unable to scale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branch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opened despite demand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Supplier credit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optimally utilized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Working capital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remains locked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Expansion decisions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data-driven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9EA3CA5-E204-3A6D-A56C-B1E19D5B3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4163" y="2375337"/>
            <a:ext cx="538320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overstocking of slow-moving items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Stockouts of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high-demand medicines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Purchasing based on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judgment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reorder policy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trapped in inventory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653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13F68-7ACB-6162-EAC3-AFF8B58B6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B6E8E-D2FA-4609-73F2-2AD8CEC25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07831"/>
          </a:xfrm>
        </p:spPr>
        <p:txBody>
          <a:bodyPr/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DATA COLLECTION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8D1A01-2078-2815-DD2D-0982AC954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z="2000" noProof="0" smtClean="0"/>
              <a:pPr/>
              <a:t>4</a:t>
            </a:fld>
            <a:endParaRPr lang="en-US" sz="2000" noProof="0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F420E3FE-C16B-C12C-8556-0E8464184734}"/>
              </a:ext>
            </a:extLst>
          </p:cNvPr>
          <p:cNvSpPr txBox="1">
            <a:spLocks/>
          </p:cNvSpPr>
          <p:nvPr/>
        </p:nvSpPr>
        <p:spPr>
          <a:xfrm>
            <a:off x="443365" y="1466666"/>
            <a:ext cx="5184437" cy="4927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 Collected	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404249F5-2AD7-9984-FBF7-F62A6DE9F0FD}"/>
              </a:ext>
            </a:extLst>
          </p:cNvPr>
          <p:cNvSpPr txBox="1">
            <a:spLocks/>
          </p:cNvSpPr>
          <p:nvPr/>
        </p:nvSpPr>
        <p:spPr>
          <a:xfrm>
            <a:off x="6474163" y="1466666"/>
            <a:ext cx="5184437" cy="4927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Processed Data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D61644B-9409-7FEE-356B-0D4BA925DFF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65150" y="2683442"/>
            <a:ext cx="572143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Primary operational 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collected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Green Cross database software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Period: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April 2024 – January 2025 (10 months)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exported as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CSV / system reports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0EE9DD-FEA1-0ED6-ACA0-9DAA5C805C30}"/>
              </a:ext>
            </a:extLst>
          </p:cNvPr>
          <p:cNvSpPr txBox="1"/>
          <p:nvPr/>
        </p:nvSpPr>
        <p:spPr>
          <a:xfrm>
            <a:off x="6474163" y="2375336"/>
            <a:ext cx="518443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Inventory &amp; sales data -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inventory_sales.xlsx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Purchase &amp; GST data -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purchase_and_gst.xlsx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Monthly files consolidated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Units standardized (e.g., strips, rupee(₹)</a:t>
            </a:r>
            <a:r>
              <a:rPr lang="en-US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Cleaned datasets used for analysis</a:t>
            </a:r>
          </a:p>
        </p:txBody>
      </p:sp>
    </p:spTree>
    <p:extLst>
      <p:ext uri="{BB962C8B-B14F-4D97-AF65-F5344CB8AC3E}">
        <p14:creationId xmlns:p14="http://schemas.microsoft.com/office/powerpoint/2010/main" val="3901417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6FD19-1C1A-4187-4E37-544F299FD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D74A-52E3-D641-6A12-9C21EBD0E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07831"/>
          </a:xfrm>
        </p:spPr>
        <p:txBody>
          <a:bodyPr/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09A7F0-DB07-B323-E3B8-F438CE8F2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2000" noProof="0" dirty="0"/>
              <a:t>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6EE93-F41B-9853-0DA0-392F0B6CA8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4500" y="1655827"/>
            <a:ext cx="5184437" cy="465924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1: Scalability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capital simulation (scenario based)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branch profitability analysis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2: Inventory Optimization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supply vs demand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Stock &amp; Reorder Point (ROP) model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6059DB-A3FD-1DAA-1182-56129AA6E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036" y="1655827"/>
            <a:ext cx="4582164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645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8B299-0D11-5E86-497A-A78B38831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D510C-532A-83C2-E82B-260BC7F49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07831"/>
          </a:xfrm>
        </p:spPr>
        <p:txBody>
          <a:bodyPr/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FINDINGS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52271A-67CE-63D3-1AE8-A0E2DE308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z="2000" noProof="0" smtClean="0"/>
              <a:pPr/>
              <a:t>6</a:t>
            </a:fld>
            <a:endParaRPr lang="en-US" sz="2000" noProof="0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BFCE2AB-8AAD-0000-1CD4-3AEB7AC24C80}"/>
              </a:ext>
            </a:extLst>
          </p:cNvPr>
          <p:cNvSpPr txBox="1">
            <a:spLocks/>
          </p:cNvSpPr>
          <p:nvPr/>
        </p:nvSpPr>
        <p:spPr>
          <a:xfrm>
            <a:off x="444500" y="1370001"/>
            <a:ext cx="5184437" cy="4927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Capital Flow Simulation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64EE7-CFBC-BB25-ABBE-D1D8D0DEDC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3400" y="2097538"/>
            <a:ext cx="3454400" cy="4217537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1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Trapped+Profit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1D3E8CE-6426-ACBA-75E9-AF4C933BD756}"/>
              </a:ext>
            </a:extLst>
          </p:cNvPr>
          <p:cNvSpPr txBox="1">
            <a:spLocks/>
          </p:cNvSpPr>
          <p:nvPr/>
        </p:nvSpPr>
        <p:spPr>
          <a:xfrm>
            <a:off x="4298950" y="2097537"/>
            <a:ext cx="3594100" cy="4217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2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Trapped+Loan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05E54EF-AB21-1647-0BF9-901466EAF53E}"/>
              </a:ext>
            </a:extLst>
          </p:cNvPr>
          <p:cNvSpPr txBox="1">
            <a:spLocks/>
          </p:cNvSpPr>
          <p:nvPr/>
        </p:nvSpPr>
        <p:spPr>
          <a:xfrm>
            <a:off x="8204200" y="2097536"/>
            <a:ext cx="3594100" cy="4217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3 (Fully Loaned)</a:t>
            </a:r>
          </a:p>
        </p:txBody>
      </p:sp>
      <p:pic>
        <p:nvPicPr>
          <p:cNvPr id="12" name="Chart4" title="Chart">
            <a:extLst>
              <a:ext uri="{FF2B5EF4-FFF2-40B4-BE49-F238E27FC236}">
                <a16:creationId xmlns:a16="http://schemas.microsoft.com/office/drawing/2014/main" id="{00000000-0008-0000-0100-0000A3F5174A}"/>
              </a:ext>
              <a:ext uri="GoogleSheetsCustomDataVersion1">
                <go:sheetsCustomData xmlns="" xmlns:xdr="http://schemas.openxmlformats.org/drawingml/2006/spreadsheetDrawing" xmlns:c="http://schemas.openxmlformats.org/drawingml/2006/chart" xmlns:cx="http://schemas.microsoft.com/office/drawing/2014/chartex" xmlns:cx1="http://schemas.microsoft.com/office/drawing/2015/9/8/chartex" xmlns:mc="http://schemas.openxmlformats.org/markup-compatibility/2006" xmlns:dgm="http://schemas.openxmlformats.org/drawingml/2006/diagram" xmlns:x3Unk="http://schemas.microsoft.com/office/drawing/2010/slicer" xmlns:sle15="http://schemas.microsoft.com/office/drawing/2012/slicer" xmlns:go="http://customooxmlschemas.google.com/" xmlns:lc="http://schemas.openxmlformats.org/drawingml/2006/lockedCanvas" pictureOfChart="1"/>
              </a:ext>
            </a:extLst>
          </p:cNvPr>
          <p:cNvPicPr preferRelativeResize="0"/>
          <p:nvPr/>
        </p:nvPicPr>
        <p:blipFill>
          <a:blip r:embed="rId2" cstate="print"/>
          <a:stretch>
            <a:fillRect/>
          </a:stretch>
        </p:blipFill>
        <p:spPr>
          <a:xfrm>
            <a:off x="587375" y="2624137"/>
            <a:ext cx="3400425" cy="2066925"/>
          </a:xfrm>
          <a:prstGeom prst="rect">
            <a:avLst/>
          </a:prstGeom>
          <a:noFill/>
        </p:spPr>
      </p:pic>
      <p:pic>
        <p:nvPicPr>
          <p:cNvPr id="13" name="Chart5" title="Chart">
            <a:extLst>
              <a:ext uri="{FF2B5EF4-FFF2-40B4-BE49-F238E27FC236}">
                <a16:creationId xmlns:a16="http://schemas.microsoft.com/office/drawing/2014/main" id="{00000000-0008-0000-0100-00001963C53B}"/>
              </a:ext>
              <a:ext uri="GoogleSheetsCustomDataVersion1">
                <go:sheetsCustomData xmlns="" xmlns:xdr="http://schemas.openxmlformats.org/drawingml/2006/spreadsheetDrawing" xmlns:c="http://schemas.openxmlformats.org/drawingml/2006/chart" xmlns:cx="http://schemas.microsoft.com/office/drawing/2014/chartex" xmlns:cx1="http://schemas.microsoft.com/office/drawing/2015/9/8/chartex" xmlns:mc="http://schemas.openxmlformats.org/markup-compatibility/2006" xmlns:dgm="http://schemas.openxmlformats.org/drawingml/2006/diagram" xmlns:x3Unk="http://schemas.microsoft.com/office/drawing/2010/slicer" xmlns:sle15="http://schemas.microsoft.com/office/drawing/2012/slicer" xmlns:go="http://customooxmlschemas.google.com/" xmlns:lc="http://schemas.openxmlformats.org/drawingml/2006/lockedCanvas" pictureOfChart="1"/>
              </a:ext>
            </a:extLst>
          </p:cNvPr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4418127" y="2624137"/>
            <a:ext cx="3400425" cy="2066925"/>
          </a:xfrm>
          <a:prstGeom prst="rect">
            <a:avLst/>
          </a:prstGeom>
          <a:noFill/>
        </p:spPr>
      </p:pic>
      <p:pic>
        <p:nvPicPr>
          <p:cNvPr id="14" name="Chart6" title="Chart">
            <a:extLst>
              <a:ext uri="{FF2B5EF4-FFF2-40B4-BE49-F238E27FC236}">
                <a16:creationId xmlns:a16="http://schemas.microsoft.com/office/drawing/2014/main" id="{00000000-0008-0000-0100-00008C498B0C}"/>
              </a:ext>
              <a:ext uri="GoogleSheetsCustomDataVersion1">
                <go:sheetsCustomData xmlns="" xmlns:xdr="http://schemas.openxmlformats.org/drawingml/2006/spreadsheetDrawing" xmlns:c="http://schemas.openxmlformats.org/drawingml/2006/chart" xmlns:cx="http://schemas.microsoft.com/office/drawing/2014/chartex" xmlns:cx1="http://schemas.microsoft.com/office/drawing/2015/9/8/chartex" xmlns:mc="http://schemas.openxmlformats.org/markup-compatibility/2006" xmlns:dgm="http://schemas.openxmlformats.org/drawingml/2006/diagram" xmlns:x3Unk="http://schemas.microsoft.com/office/drawing/2010/slicer" xmlns:sle15="http://schemas.microsoft.com/office/drawing/2012/slicer" xmlns:go="http://customooxmlschemas.google.com/" xmlns:lc="http://schemas.openxmlformats.org/drawingml/2006/lockedCanvas" pictureOfChart="1"/>
              </a:ext>
            </a:extLst>
          </p:cNvPr>
          <p:cNvPicPr preferRelativeResize="0"/>
          <p:nvPr/>
        </p:nvPicPr>
        <p:blipFill>
          <a:blip r:embed="rId4" cstate="print"/>
          <a:stretch>
            <a:fillRect/>
          </a:stretch>
        </p:blipFill>
        <p:spPr>
          <a:xfrm>
            <a:off x="8301037" y="2624136"/>
            <a:ext cx="3400425" cy="2066925"/>
          </a:xfrm>
          <a:prstGeom prst="rect">
            <a:avLst/>
          </a:prstGeom>
          <a:noFill/>
        </p:spPr>
      </p:pic>
      <p:sp>
        <p:nvSpPr>
          <p:cNvPr id="15" name="Title 3">
            <a:extLst>
              <a:ext uri="{FF2B5EF4-FFF2-40B4-BE49-F238E27FC236}">
                <a16:creationId xmlns:a16="http://schemas.microsoft.com/office/drawing/2014/main" id="{00BA6DE0-3857-F264-004E-D02607D14855}"/>
              </a:ext>
            </a:extLst>
          </p:cNvPr>
          <p:cNvSpPr txBox="1">
            <a:spLocks/>
          </p:cNvSpPr>
          <p:nvPr/>
        </p:nvSpPr>
        <p:spPr>
          <a:xfrm>
            <a:off x="533400" y="5010307"/>
            <a:ext cx="10469880" cy="7275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1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optimal 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it maximizes profit while minimizing financial risk by avoiding external borrowing and interest costs by maintaining an ROI of 46.88%</a:t>
            </a:r>
          </a:p>
        </p:txBody>
      </p:sp>
    </p:spTree>
    <p:extLst>
      <p:ext uri="{BB962C8B-B14F-4D97-AF65-F5344CB8AC3E}">
        <p14:creationId xmlns:p14="http://schemas.microsoft.com/office/powerpoint/2010/main" val="2345461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70664-5D35-79E5-6211-7BC467051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85B5-73EE-3A9F-3C63-214A1E8DC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07831"/>
          </a:xfrm>
        </p:spPr>
        <p:txBody>
          <a:bodyPr/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FINDINGS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B0CCF0-2E2C-D765-15C1-9EA090E6F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z="2000" noProof="0" smtClean="0"/>
              <a:pPr/>
              <a:t>7</a:t>
            </a:fld>
            <a:endParaRPr lang="en-US" sz="2000" noProof="0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33C64D18-A77B-8DC3-19F7-41CEB7AE8A2A}"/>
              </a:ext>
            </a:extLst>
          </p:cNvPr>
          <p:cNvSpPr txBox="1">
            <a:spLocks/>
          </p:cNvSpPr>
          <p:nvPr/>
        </p:nvSpPr>
        <p:spPr>
          <a:xfrm>
            <a:off x="444500" y="1370001"/>
            <a:ext cx="5405755" cy="4927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Branch Reinvestment Capacity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745782-E49F-8FC8-4F49-F840C217CC98}"/>
              </a:ext>
            </a:extLst>
          </p:cNvPr>
          <p:cNvSpPr txBox="1">
            <a:spLocks/>
          </p:cNvSpPr>
          <p:nvPr/>
        </p:nvSpPr>
        <p:spPr>
          <a:xfrm>
            <a:off x="12585701" y="3780355"/>
            <a:ext cx="2045594" cy="1383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65ACF37-7B85-91FB-6F02-11EBB852E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0" y="1890177"/>
            <a:ext cx="5405755" cy="3293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3">
            <a:extLst>
              <a:ext uri="{FF2B5EF4-FFF2-40B4-BE49-F238E27FC236}">
                <a16:creationId xmlns:a16="http://schemas.microsoft.com/office/drawing/2014/main" id="{5DC006EE-599C-3B15-C845-65C31DB48018}"/>
              </a:ext>
            </a:extLst>
          </p:cNvPr>
          <p:cNvSpPr txBox="1">
            <a:spLocks/>
          </p:cNvSpPr>
          <p:nvPr/>
        </p:nvSpPr>
        <p:spPr>
          <a:xfrm>
            <a:off x="6341748" y="1397417"/>
            <a:ext cx="5574028" cy="4927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Order Point (ROP) Model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A4DF0E3-86CE-4FAD-E6D2-A37871C62F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4499" y="1890177"/>
            <a:ext cx="5405755" cy="428678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04BC397C-DD98-DDB5-563E-1DFFEC721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0179" y="1890177"/>
            <a:ext cx="5104301" cy="3077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7E582F31-7D2A-9278-BA3B-2A9C0848C8A3}"/>
              </a:ext>
            </a:extLst>
          </p:cNvPr>
          <p:cNvSpPr txBox="1">
            <a:spLocks/>
          </p:cNvSpPr>
          <p:nvPr/>
        </p:nvSpPr>
        <p:spPr>
          <a:xfrm>
            <a:off x="365234" y="5210903"/>
            <a:ext cx="5730766" cy="12949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branch generates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monthly surplus</a:t>
            </a:r>
            <a:endParaRPr lang="en-US" alt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Cumulative profit exceeds funding target within 10 months</a:t>
            </a:r>
            <a:endParaRPr lang="en-US" alt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Expansion is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self-funded without external borrowing</a:t>
            </a:r>
            <a:endParaRPr lang="en-US" alt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4CF7EE70-FAFD-0A86-F6F0-F3581BD6B0FB}"/>
              </a:ext>
            </a:extLst>
          </p:cNvPr>
          <p:cNvSpPr txBox="1">
            <a:spLocks/>
          </p:cNvSpPr>
          <p:nvPr/>
        </p:nvSpPr>
        <p:spPr>
          <a:xfrm>
            <a:off x="6341747" y="4881964"/>
            <a:ext cx="5316853" cy="189720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demand shows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variability across products</a:t>
            </a:r>
            <a:endParaRPr lang="en-US" alt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ROP model prioritizes items based on demand risk</a:t>
            </a:r>
          </a:p>
          <a:p>
            <a:pPr marL="285750" lvl="0" indent="-285750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reorder decisions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METSMALL 500 mg excluded due to extreme outlier behavior, which would mask risk patterns of other items.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389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84B96-0E0B-004B-6F19-09C67D7FA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FAC2C-CB91-A94F-CA41-CBA18077C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07831"/>
          </a:xfrm>
        </p:spPr>
        <p:txBody>
          <a:bodyPr/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FINDINGS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6D9BA2-72D6-EEBF-A4AE-B3D3D27F1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z="2000" noProof="0" smtClean="0"/>
              <a:pPr/>
              <a:t>8</a:t>
            </a:fld>
            <a:endParaRPr lang="en-US" sz="2000" noProof="0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FE748C6C-4CBC-EAB8-F46D-24CCBACE6A56}"/>
              </a:ext>
            </a:extLst>
          </p:cNvPr>
          <p:cNvSpPr txBox="1">
            <a:spLocks/>
          </p:cNvSpPr>
          <p:nvPr/>
        </p:nvSpPr>
        <p:spPr>
          <a:xfrm>
            <a:off x="444500" y="1370001"/>
            <a:ext cx="5405755" cy="4927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Supply vs. Demand Imbalance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1ADDF6-517E-03F1-A293-2E6BDA62B49A}"/>
              </a:ext>
            </a:extLst>
          </p:cNvPr>
          <p:cNvSpPr txBox="1">
            <a:spLocks/>
          </p:cNvSpPr>
          <p:nvPr/>
        </p:nvSpPr>
        <p:spPr>
          <a:xfrm>
            <a:off x="12585701" y="3780355"/>
            <a:ext cx="2045594" cy="1383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062C564-F6BC-9CBD-9973-10BE5BBA1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4499" y="1890177"/>
            <a:ext cx="5405755" cy="428678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2A748D9C-77CA-196B-409A-E54497DE05FD}"/>
              </a:ext>
            </a:extLst>
          </p:cNvPr>
          <p:cNvSpPr txBox="1">
            <a:spLocks/>
          </p:cNvSpPr>
          <p:nvPr/>
        </p:nvSpPr>
        <p:spPr>
          <a:xfrm>
            <a:off x="444499" y="4801293"/>
            <a:ext cx="5651501" cy="137567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LANTUS VIAL (Overstocked)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endParaRPr lang="en-US" alt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consistently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exceeds demand</a:t>
            </a:r>
            <a:endParaRPr lang="en-US" alt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accumulation</a:t>
            </a:r>
            <a:endParaRPr lang="en-US" alt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capital lock-in</a:t>
            </a:r>
            <a:endParaRPr lang="en-US" alt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9CCD31E-7456-5742-C574-5A5B820D7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235" y="2028496"/>
            <a:ext cx="4130763" cy="2554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CA732B48-8C3B-22CA-A473-C33EAF689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2595" y="2028495"/>
            <a:ext cx="4130764" cy="2554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B38BA737-B0E6-AACF-1DE4-A04AC57E11A6}"/>
              </a:ext>
            </a:extLst>
          </p:cNvPr>
          <p:cNvSpPr txBox="1">
            <a:spLocks/>
          </p:cNvSpPr>
          <p:nvPr/>
        </p:nvSpPr>
        <p:spPr>
          <a:xfrm>
            <a:off x="6526924" y="4801294"/>
            <a:ext cx="5176127" cy="138385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STARVOG 0.2 mg (Stockout Risk)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endParaRPr lang="en-US" alt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frequently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exceeds supply</a:t>
            </a:r>
            <a:endParaRPr lang="en-US" alt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risk of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stockouts</a:t>
            </a:r>
            <a:endParaRPr lang="en-US" alt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in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lost sales opportunities</a:t>
            </a:r>
            <a:endParaRPr lang="en-US" alt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733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8EC5E-A212-1E64-5DB4-F5F5932C0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66BA5-7B6A-9C66-F47E-61E406E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07831"/>
          </a:xfrm>
        </p:spPr>
        <p:txBody>
          <a:bodyPr/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INTERPRETATIONS AND RECOMMENDATIONS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15E084-070C-D312-C619-E5C82FEB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z="2000" noProof="0" smtClean="0"/>
              <a:pPr/>
              <a:t>9</a:t>
            </a:fld>
            <a:endParaRPr lang="en-US" sz="2000" noProof="0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08A7243-3D7D-C394-F7E2-F86D0661EC8A}"/>
              </a:ext>
            </a:extLst>
          </p:cNvPr>
          <p:cNvSpPr txBox="1">
            <a:spLocks/>
          </p:cNvSpPr>
          <p:nvPr/>
        </p:nvSpPr>
        <p:spPr>
          <a:xfrm>
            <a:off x="443365" y="1466666"/>
            <a:ext cx="5184437" cy="4927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&amp; Capital Utilization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FF1FF6E5-45C6-C579-968E-CCA7AA025CD8}"/>
              </a:ext>
            </a:extLst>
          </p:cNvPr>
          <p:cNvSpPr txBox="1">
            <a:spLocks/>
          </p:cNvSpPr>
          <p:nvPr/>
        </p:nvSpPr>
        <p:spPr>
          <a:xfrm>
            <a:off x="6474163" y="1466666"/>
            <a:ext cx="5184437" cy="4927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Inefficiency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C9C4715-1AD9-5F6B-66C7-AB30A265988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24555" y="2122428"/>
            <a:ext cx="557144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profitable but capital constrained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Expansion feasibility depends on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capital utilization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inefficiencies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lock working capital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purchasing drives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overstocking and stockouts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595FE81E-0F14-1E02-2D90-9F07FB431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4163" y="1968540"/>
            <a:ext cx="539201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1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funding strategy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Reinvest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branch surplus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expansion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ROP-based inventory policy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overstock in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slow-moving items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replenishment for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high-demand medicines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045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07831"/>
          </a:xfrm>
        </p:spPr>
        <p:txBody>
          <a:bodyPr/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analysis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unlocked trapped capital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Expansion feasible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external borrowing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risk reduced through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models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decisions now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quantifiable and repeatable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594360" cy="329565"/>
          </a:xfrm>
        </p:spPr>
        <p:txBody>
          <a:bodyPr/>
          <a:lstStyle/>
          <a:p>
            <a:fld id="{C263D6C4-4840-40CC-AC84-17E24B3B7BDE}" type="slidenum">
              <a:rPr lang="en-US" sz="2000" smtClean="0"/>
              <a:pPr/>
              <a:t>10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660</TotalTime>
  <Words>538</Words>
  <Application>Microsoft Office PowerPoint</Application>
  <PresentationFormat>Widescreen</PresentationFormat>
  <Paragraphs>146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Times New Roman</vt:lpstr>
      <vt:lpstr>Trade Gothic LT Pro</vt:lpstr>
      <vt:lpstr>Trebuchet MS</vt:lpstr>
      <vt:lpstr>Office Theme</vt:lpstr>
      <vt:lpstr>Data-Driven Optimization and Scalability of  Diabetes Care Medical and General Stores in Retail Pharmacy sector</vt:lpstr>
      <vt:lpstr>PowerPoint Presentation</vt:lpstr>
      <vt:lpstr>PROBLEM STATEMNETS FORMULATED</vt:lpstr>
      <vt:lpstr>PRIMARY DATA COLLECTION </vt:lpstr>
      <vt:lpstr>METHODOLOGY</vt:lpstr>
      <vt:lpstr>RESULTS AND FINDINGS</vt:lpstr>
      <vt:lpstr>RESULTS AND FINDINGS</vt:lpstr>
      <vt:lpstr>RESULTS AND FINDINGS</vt:lpstr>
      <vt:lpstr>INTERPRETATIONS AND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 MULAY</dc:creator>
  <cp:lastModifiedBy>ARYA MULAY</cp:lastModifiedBy>
  <cp:revision>1</cp:revision>
  <dcterms:created xsi:type="dcterms:W3CDTF">2025-12-24T16:59:44Z</dcterms:created>
  <dcterms:modified xsi:type="dcterms:W3CDTF">2025-12-25T04:00:06Z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